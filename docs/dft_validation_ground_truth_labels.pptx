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9990"/>
                </a:solidFill>
                <a:latin typeface="Georgia"/>
              </a:rPr>
              <a:t>MACHINE LEARNING–GUIDED SCREENING OF MAGNETIC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0B0B0B"/>
                </a:solidFill>
                <a:latin typeface="Georgia"/>
              </a:rPr>
              <a:t>DFT Validation of Ground-Truth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0B0B0B"/>
                </a:solidFill>
                <a:latin typeface="Georgia"/>
              </a:rPr>
              <a:t>Magnetic Ordering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2514E"/>
                </a:solidFill>
                <a:latin typeface="Georgia"/>
              </a:rPr>
              <a:t>24-candidate real-DFT check against Materials Project's stored magnetic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9990"/>
                </a:solidFill>
                <a:latin typeface="Georgia"/>
              </a:rPr>
              <a:t>Prepared for advisor review  ·  21 August 2026  ·  snapshot, 2 of 26 still running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Why check labels the pipeline treats as ground truth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0B0B"/>
                </a:solidFill>
                <a:latin typeface="Georgia"/>
              </a:rPr>
              <a:t>This project's screening pipeline treats Materials Project's stored magnetic ordering as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0B0B"/>
                </a:solidFill>
                <a:latin typeface="Georgia"/>
              </a:rPr>
              <a:t>ground truth (confidence=1.0) wherever MP is the source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45720" cy="1554480"/>
          </a:xfrm>
          <a:prstGeom prst="rect">
            <a:avLst/>
          </a:prstGeom>
          <a:solidFill>
            <a:srgbClr val="9A9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10835640" cy="1554480"/>
          </a:xfrm>
          <a:prstGeom prst="rect">
            <a:avLst/>
          </a:prstGeom>
          <a:solidFill>
            <a:srgbClr val="F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770632"/>
            <a:ext cx="10241280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B0B0B"/>
                </a:solidFill>
                <a:latin typeface="Georgia"/>
              </a:rPr>
              <a:t>The first crack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52514E"/>
                </a:solidFill>
                <a:latin typeface="Georgia"/>
              </a:rPr>
              <a:t>One shortlisted candidate (mp-861559, TaFeO4) was checked with real DFT and its FM label was overturned — AFM came out 7.6 meV/atom lower. MP's own workflow relaxes each structure from a single initial magnetic-moment guess and never enumerates AFM alternatives.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0B0B"/>
                </a:solidFill>
                <a:latin typeface="Georgia"/>
              </a:rPr>
              <a:t>That was one data point. This report extends the same check to the full set of eligible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0B0B"/>
                </a:solidFill>
                <a:latin typeface="Georgia"/>
              </a:rPr>
              <a:t>ground_truth/FiM candidates in the shortlist — 24 of 26 complete so far.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Same pipeline, matched to MP's own DFT convention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0136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0B0B0B"/>
                </a:solidFill>
                <a:latin typeface="Georgia"/>
              </a:rPr>
              <a:t>Take the candidate's relaxed structure from the harmonized dataset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7860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0B0B0B"/>
                </a:solidFill>
                <a:latin typeface="Georgia"/>
              </a:rPr>
              <a:t>Enumerate symmetry-distinct FM/AFM spin configurations (pymatgen MagneticStructureEnumerator + enumlib)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5584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0B0B0B"/>
                </a:solidFill>
                <a:latin typeface="Georgia"/>
              </a:rPr>
              <a:t>Generate VASP inputs with MPRelaxSet — MP's own GGA+U, ENCUT, k-point density — overriding only MAGMOM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33087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0B0B0B"/>
                </a:solidFill>
                <a:latin typeface="Georgia"/>
              </a:rPr>
              <a:t>Run each configuration to convergence (48 cores/job; paramsanganak VASP 5.4.4, then paramrudra VASP 6.4.3)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10327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0B0B0B"/>
                </a:solidFill>
                <a:latin typeface="Georgia"/>
              </a:rPr>
              <a:t>Compare converged total energies per atom — lowest is the DFT ground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45720" cy="9500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806440"/>
            <a:ext cx="10835640" cy="950000"/>
          </a:xfrm>
          <a:prstGeom prst="rect">
            <a:avLst/>
          </a:prstGeom>
          <a:solidFill>
            <a:srgbClr val="F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971031"/>
            <a:ext cx="102412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">
                <a:solidFill>
                  <a:srgbClr val="0B0B0B"/>
                </a:solidFill>
                <a:latin typeface="Georgia"/>
              </a:rPr>
              <a:t/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52514E"/>
                </a:solidFill>
                <a:latin typeface="Georgia"/>
              </a:rPr>
              <a:t>All configurations for the 24 complete candidates converged cleanly — every OUTCAR reports “reached required accuracy.” 2 more still running (mp-1173143, mp-682554).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9990"/>
                </a:solidFill>
                <a:latin typeface="Georgia"/>
              </a:rPr>
              <a:t>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02E2E"/>
                </a:solidFill>
                <a:latin typeface="Georgia"/>
              </a:rPr>
              <a:t>4 of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B0B0B"/>
                </a:solidFill>
                <a:latin typeface="Georgia"/>
              </a:rPr>
              <a:t>ground-truth FM labels confirmed by real DFT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572000"/>
            <a:ext cx="548640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0060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2514E"/>
                </a:solidFill>
                <a:latin typeface="Georgia"/>
              </a:rPr>
              <a:t>17 clearly overturned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2514E"/>
                </a:solidFill>
                <a:latin typeface="Georgia"/>
              </a:rPr>
              <a:t>(0.31–24.68 meV/atom, AFM lower)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80060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2514E"/>
                </a:solidFill>
                <a:latin typeface="Georgia"/>
              </a:rPr>
              <a:t>3 statistically degenerate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2514E"/>
                </a:solidFill>
                <a:latin typeface="Georgia"/>
              </a:rPr>
              <a:t>(≤0.10 meV/atom — inside DFT noise floor)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Per-candidate DFT ground state vs. the FM label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10881360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103120"/>
                <a:gridCol w="2377440"/>
                <a:gridCol w="1280160"/>
              </a:tblGrid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850" b="1">
                          <a:solidFill>
                            <a:srgbClr val="0B0B0B"/>
                          </a:solidFill>
                          <a:latin typeface="Georgia"/>
                        </a:rPr>
                        <a:t>Candidate</a:t>
                      </a:r>
                    </a:p>
                  </a:txBody>
                  <a:tcPr marT="18288" marB="18288">
                    <a:solidFill>
                      <a:srgbClr val="F1F0EA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850" b="1">
                          <a:solidFill>
                            <a:srgbClr val="0B0B0B"/>
                          </a:solidFill>
                          <a:latin typeface="Georgia"/>
                        </a:rPr>
                        <a:t>Formula</a:t>
                      </a:r>
                    </a:p>
                  </a:txBody>
                  <a:tcPr marT="18288" marB="18288">
                    <a:solidFill>
                      <a:srgbClr val="F1F0EA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850" b="1">
                          <a:solidFill>
                            <a:srgbClr val="0B0B0B"/>
                          </a:solidFill>
                          <a:latin typeface="Georgia"/>
                        </a:rPr>
                        <a:t>DFT ground state</a:t>
                      </a:r>
                    </a:p>
                  </a:txBody>
                  <a:tcPr marT="18288" marB="18288">
                    <a:solidFill>
                      <a:srgbClr val="F1F0EA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850" b="1">
                          <a:solidFill>
                            <a:srgbClr val="0B0B0B"/>
                          </a:solidFill>
                          <a:latin typeface="Georgia"/>
                        </a:rPr>
                        <a:t>Margin (meV/atom)</a:t>
                      </a:r>
                    </a:p>
                  </a:txBody>
                  <a:tcPr marT="18288" marB="18288">
                    <a:solidFill>
                      <a:srgbClr val="F1F0EA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850" b="1">
                          <a:solidFill>
                            <a:srgbClr val="0B0B0B"/>
                          </a:solidFill>
                          <a:latin typeface="Georgia"/>
                        </a:rPr>
                        <a:t>Signal</a:t>
                      </a:r>
                    </a:p>
                  </a:txBody>
                  <a:tcPr marT="18288" marB="18288">
                    <a:solidFill>
                      <a:srgbClr val="F1F0EA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mp-1228376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Ba3Fe2WO9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24.68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mp-1218521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Sr3TaFeO7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14.03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mp-1519427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BaCaFeBiO6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11.74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mp-1520073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SrCaFeBiO6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11.71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mp-1522159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BaSrFeBiO6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11.66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mp-1217456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Ti4FeBiPb4O15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9.18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mp-1217946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TaFeO4 (entry 2)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8.92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mp-861559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TaFeO4 (entry 1)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7.61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mp-22972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Tb6FeBi2 (FiM label)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7.32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vs FM only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mp-775194 †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Li2Fe3WO8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6.59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mp-1301722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Ca3Fe2(WO6)2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2.73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mp-754090 †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Li4Fe2TeWO12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2.41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2E7D4F"/>
                          </a:solidFill>
                          <a:latin typeface="Georgia"/>
                        </a:rPr>
                        <a:t>Confirmed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mp-1079285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Tb6FeBi2 (entry 2)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2.32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2E7D4F"/>
                          </a:solidFill>
                          <a:latin typeface="Georgia"/>
                        </a:rPr>
                        <a:t>Confirmed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mp-769471 †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Fe3Co2P6WO24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2.17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mp-850225 †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FeP6(WO8)3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2.10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2E7D4F"/>
                          </a:solidFill>
                          <a:latin typeface="Georgia"/>
                        </a:rPr>
                        <a:t>Confirmed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mp-1343817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CaFeReO6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1.77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mp-1197024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FeBi(SeO3)3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1.19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mp-1228547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Ba4Ta10FeO30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1.18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2E7D4F"/>
                          </a:solidFill>
                          <a:latin typeface="Georgia"/>
                        </a:rPr>
                        <a:t>Confirmed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mp-755203 †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Li4NbFe(WO6)2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0.73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mp-551086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CrFe(BiO3)2 (FiM label)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0.57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vs FM only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mp-1173139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Ta2FeO6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0.31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1">
                          <a:solidFill>
                            <a:srgbClr val="B02E2E"/>
                          </a:solidFill>
                          <a:latin typeface="Georgia"/>
                        </a:rPr>
                        <a:t>Overturned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mp-1047414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Zn2FeWO6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0.10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8A8878"/>
                          </a:solidFill>
                          <a:latin typeface="Georgia"/>
                        </a:rPr>
                        <a:t>Noise-level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mp-1043970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CaLaTaFeO6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AFM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0.09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8A8878"/>
                          </a:solidFill>
                          <a:latin typeface="Georgia"/>
                        </a:rPr>
                        <a:t>Noise-level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  <a:tr h="194950"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mp-1216981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TiFeBiPbO6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FM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0B0B0B"/>
                          </a:solidFill>
                          <a:latin typeface="Georgia"/>
                        </a:rPr>
                        <a:t>0.02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none" tIns="9144" bIns="9144" lIns="45720" rIns="27432"/>
                    <a:lstStyle/>
                    <a:p>
                      <a:pPr algn="l"/>
                      <a:r>
                        <a:rPr sz="760" b="0">
                          <a:solidFill>
                            <a:srgbClr val="8A8878"/>
                          </a:solidFill>
                          <a:latin typeface="Georgia"/>
                        </a:rPr>
                        <a:t>Noise-level</a:t>
                      </a:r>
                    </a:p>
                  </a:txBody>
                  <a:tcPr marT="18288" marB="18288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DFT ground state vs. label, ranked by resolvable margin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6</a:t>
            </a:r>
          </a:p>
        </p:txBody>
      </p:sp>
      <p:pic>
        <p:nvPicPr>
          <p:cNvPr id="8" name="Picture 7" descr="dft_validati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600200"/>
            <a:ext cx="9784080" cy="5314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What this sample does and doesn't establish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737360"/>
            <a:ext cx="45720" cy="1920240"/>
          </a:xfrm>
          <a:prstGeom prst="rect">
            <a:avLst/>
          </a:prstGeom>
          <a:solidFill>
            <a:srgbClr val="9A9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0835640" cy="1920240"/>
          </a:xfrm>
          <a:prstGeom prst="rect">
            <a:avLst/>
          </a:prstGeom>
          <a:solidFill>
            <a:srgbClr val="F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901952"/>
            <a:ext cx="102412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B0B0B"/>
                </a:solidFill>
                <a:latin typeface="Georgia"/>
              </a:rPr>
              <a:t>Not a random sample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52514E"/>
                </a:solidFill>
                <a:latin typeface="Georgia"/>
              </a:rPr>
              <a:t>All 24 candidates were pulled from the top of the DMI-filtered shortlist (noncentrosymmetric, heavy-SOC-element, net-moment structures). It's plausible this structural family is more AFM-prone than the ground_truth population as a whole — the true project-wide mislabeling rate could be lower than “17/24.”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45720" cy="146304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886200"/>
            <a:ext cx="10835640" cy="1463040"/>
          </a:xfrm>
          <a:prstGeom prst="rect">
            <a:avLst/>
          </a:prstGeom>
          <a:solidFill>
            <a:srgbClr val="F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050791"/>
            <a:ext cx="102412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B0B0B"/>
                </a:solidFill>
                <a:latin typeface="Georgia"/>
              </a:rPr>
              <a:t>What is firmly established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52514E"/>
                </a:solidFill>
                <a:latin typeface="Georgia"/>
              </a:rPr>
              <a:t>The label cannot be taken at face value for candidates in this specific shortlisted population without an actual DFT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9990"/>
                </a:solidFill>
                <a:latin typeface="Georgia"/>
              </a:rPr>
              <a:t>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0B0B"/>
                </a:solidFill>
                <a:latin typeface="Georgia"/>
              </a:rPr>
              <a:t>Open questions for the advisor meeting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5240">
            <a:solidFill>
              <a:srgbClr val="D8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2E2E"/>
                </a:solidFill>
                <a:latin typeface="Georgia"/>
              </a:rPr>
              <a:t>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B0B0B"/>
                </a:solidFill>
                <a:latin typeface="Georgia"/>
              </a:rPr>
              <a:t>17 of 24 shortlisted ground_truth/FiM labels are clearly wrong, 4 are confirmed with a resolvable margin, 3 are statistical 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2E2E"/>
                </a:solidFill>
                <a:latin typeface="Georgia"/>
              </a:rPr>
              <a:t>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79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B0B0B"/>
                </a:solidFill>
                <a:latin typeface="Georgia"/>
              </a:rPr>
              <a:t>Treat MP's ordering label as a screening prior, not ground truth, for this shortlist's structural family. Does this change how ordering_final feeds the net-moment filter in screen_candidates.py (AFM is currently excluded entirely)? Also worth scoping: a dedicated FiM-configuration check for mp-22972 and mp-551086.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2E2E"/>
                </a:solidFill>
                <a:latin typeface="Georgia"/>
              </a:rPr>
              <a:t>OPEN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B0B0B"/>
                </a:solidFill>
                <a:latin typeface="Georgia"/>
              </a:rPr>
              <a:t>Is 24–26 of 1,647 candidates enough evidence to act on — or does this need a larger, stratified random sample across the whole ground_truth population before changing how the pipeline treats these labels?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990"/>
                </a:solidFill>
                <a:latin typeface="Georgia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